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0"/>
            <a:ext cx="1463040" cy="1463040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822960"/>
            <a:ext cx="822960" cy="822960"/>
          </a:xfrm>
          <a:prstGeom prst="rect">
            <a:avLst/>
          </a:prstGeom>
          <a:solidFill>
            <a:srgbClr val="00A896">
              <a:alpha val="28000"/>
            </a:srgbClr>
          </a:solidFill>
          <a:ln w="12700">
            <a:solidFill>
              <a:srgbClr val="00A896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5760" y="4023360"/>
            <a:ext cx="1828800" cy="18288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2C39A"/>
                </a:solidFill>
              </a:rPr>
              <a:t>COMPLETE EXPLORATORY DATA ANALYSIS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Chronic Kidney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Disease Analysis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411480" y="3401568"/>
            <a:ext cx="1920240" cy="804672"/>
          </a:xfrm>
          <a:prstGeom prst="rect">
            <a:avLst/>
          </a:prstGeom>
          <a:solidFill>
            <a:srgbClr val="028090">
              <a:alpha val="52000"/>
            </a:srgbClr>
          </a:solidFill>
          <a:ln w="12700">
            <a:solidFill>
              <a:srgbClr val="028090">
                <a:alpha val="5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3814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400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Patient Records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3401568"/>
            <a:ext cx="1920240" cy="804672"/>
          </a:xfrm>
          <a:prstGeom prst="rect">
            <a:avLst/>
          </a:prstGeom>
          <a:solidFill>
            <a:srgbClr val="028090">
              <a:alpha val="52000"/>
            </a:srgbClr>
          </a:solidFill>
          <a:ln w="12700">
            <a:solidFill>
              <a:srgbClr val="028090">
                <a:alpha val="5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43814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25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Clinical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3401568"/>
            <a:ext cx="1920240" cy="804672"/>
          </a:xfrm>
          <a:prstGeom prst="rect">
            <a:avLst/>
          </a:prstGeom>
          <a:solidFill>
            <a:srgbClr val="028090">
              <a:alpha val="52000"/>
            </a:srgbClr>
          </a:solidFill>
          <a:ln w="12700">
            <a:solidFill>
              <a:srgbClr val="028090">
                <a:alpha val="5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43814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19+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0916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Visualizations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3401568"/>
            <a:ext cx="1920240" cy="804672"/>
          </a:xfrm>
          <a:prstGeom prst="rect">
            <a:avLst/>
          </a:prstGeom>
          <a:solidFill>
            <a:srgbClr val="028090">
              <a:alpha val="52000"/>
            </a:srgbClr>
          </a:solidFill>
          <a:ln w="12700">
            <a:solidFill>
              <a:srgbClr val="028090">
                <a:alpha val="5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43814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2C39A"/>
                </a:solidFill>
              </a:rPr>
              <a:t>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8000" y="3822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Analysis Layers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Tools: Python  |  Pandas  |  NumPy  |  Matplotlib  |  Seaborn  |  Plotly  |  Scikit-learn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CKD EDA  |  Dataset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2 / 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658368"/>
            <a:ext cx="7315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</a:rPr>
              <a:t>About the Dataset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11338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400 patient records, 25 clinical features, 2 target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664208"/>
            <a:ext cx="187452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73736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" y="22860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Patient Records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664208"/>
            <a:ext cx="1874520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173736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50592" y="22860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Clinical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53712" y="1664208"/>
            <a:ext cx="1874520" cy="10972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3712" y="173736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53712" y="22860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Numerical 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56832" y="1664208"/>
            <a:ext cx="1874520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1737360"/>
            <a:ext cx="1874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9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656832" y="22860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Categorical Features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2926080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9443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Numerical features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314553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Age, Blood Pressure, Blood Glucose, Blood Urea, Serum Creatinine, Hemoglobin, Sodium, Potassium, Packed Cell Volume, WBC Count, RBC Count…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3456432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4747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Categorical features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0352" y="36758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RBC, Pus Cell, Pus Cell Clumps, Bacteria, Hypertension, Diabetes Mellitus, Coronary Artery Disease, Appetite, Pedal Edema, Anemia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3986784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40050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Target variable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" y="4206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Classification — CKD (1) or Not CKD (0). Imbalanced: ~60% CKD, ~40% Non-CKD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4517136"/>
            <a:ext cx="64008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53542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HR relevance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0352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Real-world clinical dataset — demonstrates ability to handle messy healthcare data, impute missing values, and derive medical insights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A2342">
              <a:alpha val="30000"/>
            </a:srgbClr>
          </a:solidFill>
          <a:ln w="12700">
            <a:solidFill>
              <a:srgbClr val="0A2342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</a:rPr>
              <a:t>SECTION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Univariate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Analysis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F0F5"/>
                </a:solidFill>
              </a:rPr>
              <a:t>Studying one feature at a time — distributions, frequencies &amp; outliers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0" y="46634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3 / 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CKD EDA  |  Univariate — Age Distribution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4 / 17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21792"/>
            <a:ext cx="5394960" cy="44119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70448" y="621792"/>
            <a:ext cx="2971800" cy="4430268"/>
          </a:xfrm>
          <a:prstGeom prst="rect">
            <a:avLst/>
          </a:prstGeom>
          <a:solidFill>
            <a:srgbClr val="F0F7F8"/>
          </a:solidFill>
          <a:ln w="12700">
            <a:solidFill>
              <a:srgbClr val="DDE8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70448" y="621792"/>
            <a:ext cx="2971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713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Age Distribution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179576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1124712"/>
            <a:ext cx="2606040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Left-skewed — majority of patients aged 40–70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1974190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1919326"/>
            <a:ext cx="2606040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Peak frequency at 48–60 years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2768803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2713939"/>
            <a:ext cx="2606040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Very few CKD patients below age 15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563417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3508553"/>
            <a:ext cx="2606040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Older age = higher CKD risk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4358030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4303166"/>
            <a:ext cx="2606040" cy="73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KDE curve confirms bell-shaped skew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CKD EDA  |  Univariate — Categorical Features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5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Bacteria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4114800" cy="1737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17720" y="594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Pedal Edema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17720" y="868680"/>
            <a:ext cx="4114800" cy="1737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" y="27432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Coronary Artery Disease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8600" y="3017520"/>
            <a:ext cx="4114800" cy="1737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617720" y="27432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Diabetes Mellitus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17720" y="3017520"/>
            <a:ext cx="4114800" cy="173736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274320" y="4764024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Insight: 92% no bacteria  •  80% no pedal edema  •  91% no CAD  •  34.2% have Diabetes Mellitus (key CKD comorbidity)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C39A"/>
                </a:solidFill>
              </a:rPr>
              <a:t>SECTION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Bivariate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Analysis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C8D8"/>
                </a:solidFill>
              </a:rPr>
              <a:t>Examining relationships between two features — and how they relate to CKD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6634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6 / 17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CKD EDA  |  Bivariate — Blood Urea vs CKD Classification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7 / 17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21792"/>
            <a:ext cx="5394960" cy="44119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70448" y="621792"/>
            <a:ext cx="2971800" cy="4430268"/>
          </a:xfrm>
          <a:prstGeom prst="rect">
            <a:avLst/>
          </a:prstGeom>
          <a:solidFill>
            <a:srgbClr val="F0F7F8"/>
          </a:solidFill>
          <a:ln w="12700">
            <a:solidFill>
              <a:srgbClr val="DDE8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70448" y="621792"/>
            <a:ext cx="29718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713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Blood Urea vs CKD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179576"/>
            <a:ext cx="100584" cy="10058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1124712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CKD patients (Class 1) have significantly higher Blood Urea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1841754"/>
            <a:ext cx="100584" cy="10058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1786890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Median is 2× higher in CKD vs Non-CKD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2503932"/>
            <a:ext cx="100584" cy="10058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2449068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Multiple extreme outliers (up to 400 mg/dL) in CKD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166110"/>
            <a:ext cx="100584" cy="10058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3111246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Normal range: 7–20 mg/dL — CKD far exceeds this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3828288"/>
            <a:ext cx="100584" cy="10058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3773424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Strong clinical biomarker for disease severity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89320" y="4490466"/>
            <a:ext cx="100584" cy="10058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53912" y="4435602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HR note: shows ability to interpret medical thresholds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CKD EDA  |  Bivariate — Serum Creatinine vs CKD Classification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8 / 17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21792"/>
            <a:ext cx="5394960" cy="44119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70448" y="621792"/>
            <a:ext cx="2971800" cy="4430268"/>
          </a:xfrm>
          <a:prstGeom prst="rect">
            <a:avLst/>
          </a:prstGeom>
          <a:solidFill>
            <a:srgbClr val="F0F7F8"/>
          </a:solidFill>
          <a:ln w="12700">
            <a:solidFill>
              <a:srgbClr val="DDE8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70448" y="621792"/>
            <a:ext cx="29718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713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</a:rPr>
              <a:t>Serum Creatinine vs CKD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179576"/>
            <a:ext cx="100584" cy="1005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1124712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CKD patients show extremely wide spread (up to 80 mg/dL)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1841754"/>
            <a:ext cx="100584" cy="1005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1786890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Non-CKD tightly clustered at 0–2 mg/dL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2503932"/>
            <a:ext cx="100584" cy="1005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2449068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Violin shows heavy right-skew in CKD class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166110"/>
            <a:ext cx="100584" cy="1005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3111246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This is the #1 visual separator between classes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3828288"/>
            <a:ext cx="100584" cy="1005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3773424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Normal: 0.6–1.2 mg/dL — CKD drastically exceeds this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89320" y="4490466"/>
            <a:ext cx="100584" cy="1005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53912" y="4435602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Violin plot chosen to show full data density shape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CKD EDA  |  Bivariate — Age vs Blood Pressure (with &amp; without CKD label)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9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Without Classification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420624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0" y="566928"/>
            <a:ext cx="0" cy="4114800"/>
          </a:xfrm>
          <a:prstGeom prst="line">
            <a:avLst/>
          </a:prstGeom>
          <a:noFill/>
          <a:ln w="12700">
            <a:solidFill>
              <a:srgbClr val="DDE8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63440" y="594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Coloured by CKD Class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868680"/>
            <a:ext cx="4206240" cy="32004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224528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4279392"/>
            <a:ext cx="8503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Key Insight: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Blood pressure is similar across CKD and Non-CKD patients (60–100 mmHg range). CKD class (orange) shows more scatter at all ages. Blood pressure alone is NOT a reliable CKD predictor — but combined with Serum Creatinine and Blood Urea it strengthens diagnosis.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CKD EDA  |  Bivariate — Albumin Levels by Diabetes Mellitus Status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10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Boxplot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68680"/>
            <a:ext cx="420624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0" y="566928"/>
            <a:ext cx="0" cy="4114800"/>
          </a:xfrm>
          <a:prstGeom prst="line">
            <a:avLst/>
          </a:prstGeom>
          <a:noFill/>
          <a:ln w="12700">
            <a:solidFill>
              <a:srgbClr val="DDE8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63440" y="59436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Violin Plot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868680"/>
            <a:ext cx="4206240" cy="3108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224528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4279392"/>
            <a:ext cx="8503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Key Insight: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Diabetic patients show significantly higher Albumin (median ~2) vs non-diabetics (near 0). High albumin in urine (albuminuria) is a hallmark of kidney damage. This strongly links Diabetes Mellitus to CKD progression — confirmed by medical literature.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CKD EDA  |  Bivariate — Diabetes Mellitus vs Hypertension (Comorbidity)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11 / 17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21792"/>
            <a:ext cx="5394960" cy="44119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70448" y="621792"/>
            <a:ext cx="2971800" cy="4430268"/>
          </a:xfrm>
          <a:prstGeom prst="rect">
            <a:avLst/>
          </a:prstGeom>
          <a:solidFill>
            <a:srgbClr val="F0F7F8"/>
          </a:solidFill>
          <a:ln w="12700">
            <a:solidFill>
              <a:srgbClr val="DDE8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70448" y="621792"/>
            <a:ext cx="29718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713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Diabetes × Hypertension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179576"/>
            <a:ext cx="100584" cy="1005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1124712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Non-diabetics (no): large group, mostly no hypertension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1841754"/>
            <a:ext cx="100584" cy="1005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1786890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Diabetics (yes): ~30 with no HTN, ~110 with HTN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2503932"/>
            <a:ext cx="100584" cy="1005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2449068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Hypertension rate is 4× higher in diabetics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166110"/>
            <a:ext cx="100584" cy="1005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3111246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This comorbidity cluster is a major CKD accelerator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3828288"/>
            <a:ext cx="100584" cy="1005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3773424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Cross-tab analysis (pd.crosstab) used — shows SQL-like thinking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89320" y="4490466"/>
            <a:ext cx="100584" cy="1005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53912" y="4435602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HR note: real-world comorbidity pattern — clinically validated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818CF8">
              <a:alpha val="25000"/>
            </a:srgbClr>
          </a:solidFill>
          <a:ln w="12700">
            <a:solidFill>
              <a:srgbClr val="818CF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A2342">
              <a:alpha val="25000"/>
            </a:srgbClr>
          </a:solidFill>
          <a:ln w="12700">
            <a:solidFill>
              <a:srgbClr val="0A2342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7D2FE"/>
                </a:solidFill>
              </a:rPr>
              <a:t>SECTION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Multivariate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Analysis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</a:rPr>
              <a:t>Examining 3+ features together — correlation, pairplots &amp; 3D scatter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0" y="46634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12 / 17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CKD EDA  |  Multivariate — Correlation Heatmap (All Features)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13 / 17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21792"/>
            <a:ext cx="5394960" cy="44119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70448" y="621792"/>
            <a:ext cx="2971800" cy="4430268"/>
          </a:xfrm>
          <a:prstGeom prst="rect">
            <a:avLst/>
          </a:prstGeom>
          <a:solidFill>
            <a:srgbClr val="F0F7F8"/>
          </a:solidFill>
          <a:ln w="12700">
            <a:solidFill>
              <a:srgbClr val="DDE8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70448" y="621792"/>
            <a:ext cx="297180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713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1D48"/>
                </a:solidFill>
              </a:rPr>
              <a:t>Correlation Heatmap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179576"/>
            <a:ext cx="100584" cy="1005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1124712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Hemoglobin &amp; Packed Cell Volume: r = 0.9 (strongest positive)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1841754"/>
            <a:ext cx="100584" cy="1005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1786890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Serum Creatinine negatively correlated with Hemoglobin (r ≈ −0.6)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2503932"/>
            <a:ext cx="100584" cy="1005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2449068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Specific Gravity strongly tied to Classification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166110"/>
            <a:ext cx="100584" cy="1005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3111246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Sodium and Potassium show expected kidney-regulation patterns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3828288"/>
            <a:ext cx="100584" cy="1005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3773424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Heatmap reveals 6 feature clusters for ML feature selection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89320" y="4490466"/>
            <a:ext cx="100584" cy="100584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53912" y="4435602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HR note: demonstrates statistical thinking for model building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CKD EDA  |  Multivariate — Pairplot: Age, BP, Blood Glucose, Serum Creatinine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14 / 17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21792"/>
            <a:ext cx="5394960" cy="44119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70448" y="621792"/>
            <a:ext cx="2971800" cy="4430268"/>
          </a:xfrm>
          <a:prstGeom prst="rect">
            <a:avLst/>
          </a:prstGeom>
          <a:solidFill>
            <a:srgbClr val="F0F7F8"/>
          </a:solidFill>
          <a:ln w="12700">
            <a:solidFill>
              <a:srgbClr val="DDE8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70448" y="621792"/>
            <a:ext cx="29718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713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Pairplot Insights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179576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1124712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Pink = Non-CKD (0), Teal = CKD (1)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1841754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1786890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CKD patients (teal) are older and more spread in Age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2503932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2449068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Blood Pressure shows no clean CKD separation (as seen in slide 9)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166110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3111246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Blood Glucose is higher and more variable in CKD group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3828288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3773424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Serum Creatinine: near-zero for Non-CKD vs wide spread for CKD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89320" y="4490466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53912" y="4435602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Diagonal shows KDE — confirms skewness findings from slide 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CKD EDA  |  Multivariate — Custom PairGrid (Scatter + KDE + Histogram)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15 / 17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621792"/>
            <a:ext cx="5394960" cy="44119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70448" y="621792"/>
            <a:ext cx="2971800" cy="4430268"/>
          </a:xfrm>
          <a:prstGeom prst="rect">
            <a:avLst/>
          </a:prstGeom>
          <a:solidFill>
            <a:srgbClr val="F0F7F8"/>
          </a:solidFill>
          <a:ln w="12700">
            <a:solidFill>
              <a:srgbClr val="DDE8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70448" y="621792"/>
            <a:ext cx="2971800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713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</a:rPr>
              <a:t>PairGrid Analysis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989320" y="1179576"/>
            <a:ext cx="100584" cy="1005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53912" y="1124712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Upper triangle: scatter — shows raw data spread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89320" y="1841754"/>
            <a:ext cx="100584" cy="1005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53912" y="1786890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Lower triangle: KDE contour — shows density clusters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89320" y="2503932"/>
            <a:ext cx="100584" cy="1005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53912" y="2449068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Diagonal: histogram — distribution per feature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989320" y="3166110"/>
            <a:ext cx="100584" cy="1005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3912" y="3111246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Blue = Non-CKD, Orange = CKD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89320" y="3828288"/>
            <a:ext cx="100584" cy="1005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53912" y="3773424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KDE contours confirm CKD patients cluster at higher Blood Glucose ranges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989320" y="4490466"/>
            <a:ext cx="100584" cy="100584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53912" y="4435602"/>
            <a:ext cx="2606040" cy="607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Serum Creatinine (row 4): CKD is flat near 0 — no variation in Non-CKD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CKD EDA  |  Key Takeaways — All Analysis Layers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16 / 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Takeaways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743200" cy="1600200"/>
          </a:xfrm>
          <a:prstGeom prst="rect">
            <a:avLst/>
          </a:prstGeom>
          <a:solidFill>
            <a:srgbClr val="0D2D4A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70432"/>
            <a:ext cx="548640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190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2618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Top Biomarkers Identified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Serum Creatinine, Blood Urea &amp; Hemoglobin are the strongest separators. Correlation heatmap confirms these with r &gt; 0.7 to Classification.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170432"/>
            <a:ext cx="2743200" cy="1600200"/>
          </a:xfrm>
          <a:prstGeom prst="rect">
            <a:avLst/>
          </a:prstGeom>
          <a:solidFill>
            <a:srgbClr val="0D2D4A"/>
          </a:solidFill>
          <a:ln w="6350">
            <a:solidFill>
              <a:srgbClr val="F4A2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170432"/>
            <a:ext cx="548640" cy="1600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7190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12618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</a:rPr>
              <a:t>Comorbidities Confirmed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16459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Diabetes + Hypertension co-occurrence is 4× higher than expected. CKD is a multi-system disease — data proves 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170432"/>
            <a:ext cx="2743200" cy="1600200"/>
          </a:xfrm>
          <a:prstGeom prst="rect">
            <a:avLst/>
          </a:prstGeom>
          <a:solidFill>
            <a:srgbClr val="0D2D4A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170432"/>
            <a:ext cx="548640" cy="1600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7190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12618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</a:rPr>
              <a:t>Feature Engineering Decisions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16459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Multivariate analysis reveals 6 feature clusters — ideal for PCA or feature selection before ML modelling.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999232"/>
            <a:ext cx="2743200" cy="1600200"/>
          </a:xfrm>
          <a:prstGeom prst="rect">
            <a:avLst/>
          </a:prstGeom>
          <a:solidFill>
            <a:srgbClr val="0D2D4A"/>
          </a:solidFill>
          <a:ln w="6350">
            <a:solidFill>
              <a:srgbClr val="E11D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999232"/>
            <a:ext cx="548640" cy="16002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547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090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Data Quality Skills Demonstrated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3474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Handled mixed-type columns (pd.to_numeric), fixed dirty labels (Diabetes Mellitus), imputed nulls with median/mode — production-ready cleaning.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999232"/>
            <a:ext cx="2743200" cy="1600200"/>
          </a:xfrm>
          <a:prstGeom prst="rect">
            <a:avLst/>
          </a:prstGeom>
          <a:solidFill>
            <a:srgbClr val="0D2D4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2999232"/>
            <a:ext cx="548640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3547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40480" y="3090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Visualisation Depth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0" y="3474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10+ chart types used: histogram, boxplot, violin, heatmap, pairplot, PairGrid, stacked bar, scatter, pie, donut — shows Seaborn + Plotly mastery.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2999232"/>
            <a:ext cx="2743200" cy="1600200"/>
          </a:xfrm>
          <a:prstGeom prst="rect">
            <a:avLst/>
          </a:prstGeom>
          <a:solidFill>
            <a:srgbClr val="0D2D4A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999232"/>
            <a:ext cx="548640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54787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342"/>
                </a:solidFill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66560" y="30906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HR Impact Statement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66560" y="347472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This project demonstrates end-to-end EDA on real healthcare data: cleaning → univariate → bivariate → multivariate → insight → ready for ML.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A2342">
              <a:alpha val="30000"/>
            </a:srgbClr>
          </a:solidFill>
          <a:ln w="12700">
            <a:solidFill>
              <a:srgbClr val="0A2342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Thanks for Swiping!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0F5F0"/>
                </a:solidFill>
              </a:rPr>
              <a:t>What I demonstrated in this project: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938528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8928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Data cleaning on real-world messy clinical 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33172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Univariate, bivariate &amp; multivariate EDA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2816352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7063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Medical domain insight extraction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3255264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20954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10+ chart types across Matplotlib, Seaborn &amp; Plotly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4400" y="369417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64845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Feature correlation analysis for ML readiness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7680960" cy="658368"/>
          </a:xfrm>
          <a:prstGeom prst="rect">
            <a:avLst/>
          </a:prstGeom>
          <a:solidFill>
            <a:srgbClr val="0A2342">
              <a:alpha val="70000"/>
            </a:srgbClr>
          </a:solidFill>
          <a:ln w="12700">
            <a:solidFill>
              <a:srgbClr val="0A2342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06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Open to Data Analyst / Data Science roles  •  Let's connect!  •  GitHub: [your-link]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0EDE8"/>
                </a:solidFill>
              </a:rPr>
              <a:t>Built with Python | Pandas | Seaborn | Matplotlib | Plotly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Chronic Kidney Disease — Full EDA</dc:title>
  <dc:subject>PptxGenJS Presentation</dc:subject>
  <dc:creator>PptxGenJS</dc:creator>
  <cp:lastModifiedBy>PptxGenJS</cp:lastModifiedBy>
  <cp:revision>1</cp:revision>
  <dcterms:created xsi:type="dcterms:W3CDTF">2026-05-05T11:22:59Z</dcterms:created>
  <dcterms:modified xsi:type="dcterms:W3CDTF">2026-05-05T11:22:59Z</dcterms:modified>
</cp:coreProperties>
</file>